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B14B2-C78E-E9FA-1D5F-586C26886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EFD985-981B-A7E7-8B55-5D524E848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6E5C7-D75B-F0CC-4435-152C80BF5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5785-5C00-45D1-811D-46153C1AE8C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99CAA-401F-5F70-E7B6-F17270BC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17CE4-3DE6-29C4-1949-4712398F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80BCC-98FB-4E9A-8023-4131ADE86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11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0702F-2216-57F4-0170-9A61C57B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D95FD-DA76-C3DE-E82B-A608C5636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B808E-4478-3DE8-C105-08E9EA00B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5785-5C00-45D1-811D-46153C1AE8C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F51DD-4B74-9E74-A228-D888E49EC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07B42-C954-7343-3F3C-BCB771190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80BCC-98FB-4E9A-8023-4131ADE86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3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140E6-CFB2-6CFA-BEA9-B7F5CC286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364C0-2C13-E559-C124-66D7CBDD9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6BC08-7821-23D5-AB4A-D1713D3D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5785-5C00-45D1-811D-46153C1AE8C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4AE3E-2D06-1C1E-2379-781805437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DD139-DD7B-FFC0-41DE-6DFD33153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80BCC-98FB-4E9A-8023-4131ADE86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19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1E06D-7A78-801E-3E75-012F5ECE4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E0FC6-EDFB-31E7-FDF8-71E79C4A5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8336F-F47C-ECC5-DC5A-7AF4C62F4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DD1EC-4E9F-31EA-8728-6B18442B8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5785-5C00-45D1-811D-46153C1AE8C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5F3C9-FE4B-63AF-75BE-3BA6328DA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A0011-126D-3E69-9AB7-B1C1904A1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80BCC-98FB-4E9A-8023-4131ADE86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32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45DB8-CEA5-145D-8450-FD002405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55DCE-E4EA-A5FF-1112-248A76263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F8D84-E2FA-A979-2B1C-B24FFE513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48CF07-3630-EF1E-060C-53BD9837D6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BE5025-8E4E-84F7-BF49-F22B9D3E8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0D5762-80F4-671D-53AA-2A8D24CB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5785-5C00-45D1-811D-46153C1AE8C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4786E5-78CC-7879-1BDB-4E47FC5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2650E2-B316-A6EA-82D7-71C26CB3B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80BCC-98FB-4E9A-8023-4131ADE86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31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F98FE-BB26-92CD-7F54-20F123171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B63A9-4BCB-E5EF-E09F-0340EF15F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5785-5C00-45D1-811D-46153C1AE8C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FEAC6E-6ED2-25EF-217C-1B2E36884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872EF-D065-5A40-7652-72B6A15AA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80BCC-98FB-4E9A-8023-4131ADE86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91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E7FDD-6B9E-971F-ABAA-D1AA95426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5785-5C00-45D1-811D-46153C1AE8C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B0D5EB-50B3-E0C3-25AA-A5A8A3282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D07F5-8C58-26A4-5FBA-14419DF05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80BCC-98FB-4E9A-8023-4131ADE86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989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DC331-9070-4D59-4435-C5C31092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17929-9917-3FA5-2F82-E66C6C3E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338D6-4505-F512-A64F-D6FCA57C5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C458C-31B4-6A38-524A-BD1D0F6D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5785-5C00-45D1-811D-46153C1AE8C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6E0C5-08FE-9887-2853-607F505C0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D528C-E136-02BB-32B5-A4572F4FC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80BCC-98FB-4E9A-8023-4131ADE86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32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FAA3C-0EAC-E086-C736-516CD13ED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E9CE9F-1EB6-D6C4-8897-A372E4DE6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53660B-A3CC-6BC9-85BF-D58E2F8DC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CAFED-DC57-9EF4-4074-5464B7C56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5785-5C00-45D1-811D-46153C1AE8C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0ABAC-88CE-F223-70E8-DF74D1FF0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D239F-8FE9-8C3A-2F45-6F100EF4A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80BCC-98FB-4E9A-8023-4131ADE86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7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B6990-9482-30C5-30FD-2C19AF02B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7E9CC-7FDC-B0AE-4DAF-49CB0000B5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A5EA5-6333-4BDE-E19A-66118D359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5785-5C00-45D1-811D-46153C1AE8C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06CF0-536B-2295-A3E9-B4D59C9B1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64925-9DF0-8EE4-13B3-B5003CEB7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80BCC-98FB-4E9A-8023-4131ADE86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72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22481E-3799-BA5F-217F-1A74086F3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A7CF9-BB37-5152-5F5D-765D66F42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B4EA3-83AF-0617-365A-1A08260C9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5785-5C00-45D1-811D-46153C1AE8C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21C47-1DAC-13DE-ECC3-DC309DD24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74BA1-72C5-B4EB-DEDB-4667C559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80BCC-98FB-4E9A-8023-4131ADE86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772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C1E4A4-CFBC-A919-1A7B-90D57573A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37F81-0504-B8A1-FDB9-A316F152F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B026B-2F19-9C29-3AF7-F07136B1A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685785-5C00-45D1-811D-46153C1AE8C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30E7A-5A5F-98F7-697B-FF96EB214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03177-F70E-6ECA-D1E3-0EACA00E6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180BCC-98FB-4E9A-8023-4131ADE86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34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F1245F-3A9F-62E3-5323-037CA4E15730}"/>
              </a:ext>
            </a:extLst>
          </p:cNvPr>
          <p:cNvSpPr txBox="1"/>
          <p:nvPr/>
        </p:nvSpPr>
        <p:spPr>
          <a:xfrm>
            <a:off x="731520" y="1828800"/>
            <a:ext cx="1069848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</a:rPr>
              <a:t>NGSTability — Next Gen PCM Buck Converter</a:t>
            </a:r>
          </a:p>
          <a:p>
            <a:r>
              <a:rPr lang="en-US" sz="3600" b="1">
                <a:solidFill>
                  <a:srgbClr val="FFFFFF"/>
                </a:solidFill>
              </a:rPr>
              <a:t>Stability Analysis &amp; PID Optimization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DED309-37BF-2803-4324-EC01A8A8565A}"/>
              </a:ext>
            </a:extLst>
          </p:cNvPr>
          <p:cNvSpPr txBox="1"/>
          <p:nvPr/>
        </p:nvSpPr>
        <p:spPr>
          <a:xfrm>
            <a:off x="731520" y="3840480"/>
            <a:ext cx="1069848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BBCCDD"/>
                </a:solidFill>
              </a:rPr>
              <a:t>Digital Control Loop Modeling  |  RTL-Accurate Coefficients  |  Global Optimization  |  AMS Correlation</a:t>
            </a:r>
          </a:p>
        </p:txBody>
      </p:sp>
    </p:spTree>
    <p:extLst>
      <p:ext uri="{BB962C8B-B14F-4D97-AF65-F5344CB8AC3E}">
        <p14:creationId xmlns:p14="http://schemas.microsoft.com/office/powerpoint/2010/main" val="3145469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755E0-95AC-7E42-EF79-547AA071D5CA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33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CD84FA-9329-708B-C84F-BE8AF3EC4479}"/>
              </a:ext>
            </a:extLst>
          </p:cNvPr>
          <p:cNvSpPr txBox="1"/>
          <p:nvPr/>
        </p:nvSpPr>
        <p:spPr>
          <a:xfrm>
            <a:off x="548640" y="137160"/>
            <a:ext cx="109728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Why NGSTability?  —  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1A3B6F-C9E8-E142-1D4A-F9FB9E9E8EBA}"/>
              </a:ext>
            </a:extLst>
          </p:cNvPr>
          <p:cNvSpPr txBox="1"/>
          <p:nvPr/>
        </p:nvSpPr>
        <p:spPr>
          <a:xfrm>
            <a:off x="731520" y="1280160"/>
            <a:ext cx="10515600" cy="37856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New architecture: moved from voltage-mode analog compensation to PCM buck with digital PID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→ Entirely different control loop — no legacy model or design methodology to reuse</a:t>
            </a:r>
          </a:p>
          <a:p>
            <a:endParaRPr lang="en-US" sz="15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The gaps we faced: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• No accurate model to predict which K1/K2/K3 PID sets produce a stable loop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• PID tuning was done manually by trial-and-error — both in lab and in AMS simulation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• Even after finding a stable set, we had no visibility into actual PM/GM margins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• Pre-silicon: each AMS trial takes hours — searching for a stable set is painfully slow</a:t>
            </a:r>
          </a:p>
          <a:p>
            <a:endParaRPr lang="en-US" sz="15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NGSTability approach: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1.  Model the full closed-loop system in MATLAB (Laplace domain)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     → Bode plot → extract GM, PM, crossover frequency in milliseconds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2.  Validate: if MATLAB predicts stable, it should correlate with lab and AMS measurements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3.  Once the model is trusted, run global optimization over all possible PID sets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     → Find the best K1/K2/K3 under stability and hardware constraints automatically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4.  Replaces days of manual AMS iteration with minutes of automated search</a:t>
            </a:r>
          </a:p>
        </p:txBody>
      </p:sp>
    </p:spTree>
    <p:extLst>
      <p:ext uri="{BB962C8B-B14F-4D97-AF65-F5344CB8AC3E}">
        <p14:creationId xmlns:p14="http://schemas.microsoft.com/office/powerpoint/2010/main" val="2273836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20B3D5-2D15-A43F-0ABC-5363AE9054A3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33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DAE155-46A6-552E-EA22-0E3B65D20A2C}"/>
              </a:ext>
            </a:extLst>
          </p:cNvPr>
          <p:cNvSpPr txBox="1"/>
          <p:nvPr/>
        </p:nvSpPr>
        <p:spPr>
          <a:xfrm>
            <a:off x="548640" y="137160"/>
            <a:ext cx="109728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1. Small-Signal Modeling — PCM Feedback Loop Architecture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40AE5F-909F-2637-AC13-286CE1EF9F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461284"/>
              </p:ext>
            </p:extLst>
          </p:nvPr>
        </p:nvGraphicFramePr>
        <p:xfrm>
          <a:off x="822960" y="137160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391869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5494037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0182991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Block</a:t>
                      </a:r>
                    </a:p>
                  </a:txBody>
                  <a:tcPr>
                    <a:solidFill>
                      <a:srgbClr val="005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Transfer Function</a:t>
                      </a:r>
                    </a:p>
                  </a:txBody>
                  <a:tcPr>
                    <a:solidFill>
                      <a:srgbClr val="005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Key Parameters</a:t>
                      </a:r>
                    </a:p>
                  </a:txBody>
                  <a:tcPr>
                    <a:solidFill>
                      <a:srgbClr val="005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5474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PCM Plant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Gvc = Hdc · Fp · Fh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solidFill>
                            <a:srgbClr val="000000"/>
                          </a:solidFill>
                        </a:rPr>
                        <a:t>L=0.47µH, C=22µF, Resr=3mΩ</a:t>
                      </a:r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237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Digital PID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Hpid = Kp + Ki/s + Kd·s/(Tf·s+1)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After &gt;&gt;6 shift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85315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ADC delay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Padé(5ns, order 2)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4-bit, 80mV window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8576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DAC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1 / (1 + s/</a:t>
                      </a:r>
                      <a:r>
                        <a:rPr lang="el-GR" sz="1200">
                          <a:solidFill>
                            <a:srgbClr val="000000"/>
                          </a:solidFill>
                        </a:rPr>
                        <a:t>ω</a:t>
                      </a: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dac)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500 kHz pole, 12-bit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250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Blanking + Comp delay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Padé(15ns + 8ns)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8119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H = </a:t>
                      </a:r>
                      <a:r>
                        <a:rPr lang="el-GR" sz="1200">
                          <a:solidFill>
                            <a:srgbClr val="000000"/>
                          </a:solidFill>
                        </a:rPr>
                        <a:t>β = 0.5</a:t>
                      </a:r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Resistive divider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51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678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350443-6A2E-9E53-93A2-04971E2096FC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33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192620-C291-0CE3-C7A5-82EEA37CA517}"/>
              </a:ext>
            </a:extLst>
          </p:cNvPr>
          <p:cNvSpPr txBox="1"/>
          <p:nvPr/>
        </p:nvSpPr>
        <p:spPr>
          <a:xfrm>
            <a:off x="548640" y="137160"/>
            <a:ext cx="109728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1. Small-Signal Modeling — PCM Plant: Control-to-Output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E0539-938D-EB44-813B-862B9D7968FE}"/>
              </a:ext>
            </a:extLst>
          </p:cNvPr>
          <p:cNvSpPr txBox="1"/>
          <p:nvPr/>
        </p:nvSpPr>
        <p:spPr>
          <a:xfrm>
            <a:off x="731520" y="1280160"/>
            <a:ext cx="105156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Gvc(s) = Hdc · Fp(s) · Fh(s)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Hdc = (R/Ri) · 1/(1 + R·Ts·(mc·D'−0.5)/L)  →  DC gain, load-dependent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Fp(s) = (1 + s·C·Resr) / (1 + s/</a:t>
            </a:r>
            <a:r>
              <a:rPr lang="el-GR" sz="1600">
                <a:solidFill>
                  <a:srgbClr val="404040"/>
                </a:solidFill>
                <a:latin typeface="Calibri" panose="020F0502020204030204" pitchFamily="34" charset="0"/>
              </a:rPr>
              <a:t>ω</a:t>
            </a:r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p)  →  output filter pole + ESR zero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Fh(s) = 1 / (1 + s/(</a:t>
            </a:r>
            <a:r>
              <a:rPr lang="el-GR" sz="1600">
                <a:solidFill>
                  <a:srgbClr val="404040"/>
                </a:solidFill>
                <a:latin typeface="Calibri" panose="020F0502020204030204" pitchFamily="34" charset="0"/>
              </a:rPr>
              <a:t>ω</a:t>
            </a:r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n·Qp) + s²/</a:t>
            </a:r>
            <a:r>
              <a:rPr lang="el-GR" sz="1600">
                <a:solidFill>
                  <a:srgbClr val="404040"/>
                </a:solidFill>
                <a:latin typeface="Calibri" panose="020F0502020204030204" pitchFamily="34" charset="0"/>
              </a:rPr>
              <a:t>ω</a:t>
            </a:r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n²)  →  sampling double pole at fs/2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Slope compensation: mc = 1 + se/sn,  se = 0.7 MV/s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Plant gain varies significantly with load current (1 mA – 3 A)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→ Must evaluate stability across the full load range, not just one operating point</a:t>
            </a:r>
          </a:p>
        </p:txBody>
      </p:sp>
    </p:spTree>
    <p:extLst>
      <p:ext uri="{BB962C8B-B14F-4D97-AF65-F5344CB8AC3E}">
        <p14:creationId xmlns:p14="http://schemas.microsoft.com/office/powerpoint/2010/main" val="3009526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DC2D40-0950-4E5B-629F-0BE2EC154AE1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33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6BDFE-2A86-AF84-0F93-D7237DF98975}"/>
              </a:ext>
            </a:extLst>
          </p:cNvPr>
          <p:cNvSpPr txBox="1"/>
          <p:nvPr/>
        </p:nvSpPr>
        <p:spPr>
          <a:xfrm>
            <a:off x="548640" y="137160"/>
            <a:ext cx="109728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2. Closed-Form Loop Components — Transfer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48EF6-7FDF-2882-5BDE-7B202053C51E}"/>
              </a:ext>
            </a:extLst>
          </p:cNvPr>
          <p:cNvSpPr txBox="1"/>
          <p:nvPr/>
        </p:nvSpPr>
        <p:spPr>
          <a:xfrm>
            <a:off x="731520" y="1280160"/>
            <a:ext cx="10515600" cy="40164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Analog reference compensator (Type-II):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Hc(s) = (</a:t>
            </a:r>
            <a:r>
              <a:rPr lang="el-GR" sz="1500">
                <a:solidFill>
                  <a:srgbClr val="404040"/>
                </a:solidFill>
                <a:latin typeface="Calibri" panose="020F0502020204030204" pitchFamily="34" charset="0"/>
              </a:rPr>
              <a:t>ω</a:t>
            </a:r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p1/s) · (1 + s/</a:t>
            </a:r>
            <a:r>
              <a:rPr lang="el-GR" sz="1500">
                <a:solidFill>
                  <a:srgbClr val="404040"/>
                </a:solidFill>
                <a:latin typeface="Calibri" panose="020F0502020204030204" pitchFamily="34" charset="0"/>
              </a:rPr>
              <a:t>ω</a:t>
            </a:r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z,comp) / (1 + s/</a:t>
            </a:r>
            <a:r>
              <a:rPr lang="el-GR" sz="1500">
                <a:solidFill>
                  <a:srgbClr val="404040"/>
                </a:solidFill>
                <a:latin typeface="Calibri" panose="020F0502020204030204" pitchFamily="34" charset="0"/>
              </a:rPr>
              <a:t>ω</a:t>
            </a:r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p2)</a:t>
            </a:r>
          </a:p>
          <a:p>
            <a:endParaRPr lang="en-US" sz="15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Digital PID compensator (Laplace domain):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Hpid(s) = Kp + Ki/s + Kd·s / (Tf·s + 1)</a:t>
            </a:r>
          </a:p>
          <a:p>
            <a:endParaRPr lang="en-US" sz="15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Complete digital compensator chain: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Hdig(s) = G_ADC · Hadc(s) · Hpid(s) · G_digital · G_DAC · Hdac(s) · Hblank(s) · e^(-sTd)</a:t>
            </a:r>
          </a:p>
          <a:p>
            <a:endParaRPr lang="en-US" sz="15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Loop gains: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Lc(s)    = Hc(s) · Gvc(s) · H                (analog reference)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Lloop(s) = Hdig(s) · Gvc(s) · H              (digital loop gain)</a:t>
            </a:r>
          </a:p>
          <a:p>
            <a:endParaRPr lang="en-US" sz="15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Closed-loop transfer function: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Tloop(s) = Lloop(s) / (1 + Lloop(s))         (feedback(Lloop, 1))</a:t>
            </a:r>
          </a:p>
          <a:p>
            <a:endParaRPr lang="en-US" sz="15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Delays → 2nd-order Padé   |   G_digital = 1/64   |   ADC/DAC gains = 1</a:t>
            </a:r>
          </a:p>
        </p:txBody>
      </p:sp>
    </p:spTree>
    <p:extLst>
      <p:ext uri="{BB962C8B-B14F-4D97-AF65-F5344CB8AC3E}">
        <p14:creationId xmlns:p14="http://schemas.microsoft.com/office/powerpoint/2010/main" val="1500177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923304-12D1-F741-6929-223082E7E4AE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33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503750-E223-9B4C-1117-74F39D65D4BB}"/>
              </a:ext>
            </a:extLst>
          </p:cNvPr>
          <p:cNvSpPr txBox="1"/>
          <p:nvPr/>
        </p:nvSpPr>
        <p:spPr>
          <a:xfrm>
            <a:off x="548640" y="137160"/>
            <a:ext cx="109728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2. Phase Budget at Crossover (fc = 600 kHz)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0FB360-B1FC-96AB-F9EA-E3BE759BA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833608"/>
              </p:ext>
            </p:extLst>
          </p:nvPr>
        </p:nvGraphicFramePr>
        <p:xfrm>
          <a:off x="822960" y="137160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6084746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159524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2530668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Block</a:t>
                      </a:r>
                    </a:p>
                  </a:txBody>
                  <a:tcPr>
                    <a:solidFill>
                      <a:srgbClr val="005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Phase Contribution</a:t>
                      </a:r>
                    </a:p>
                  </a:txBody>
                  <a:tcPr>
                    <a:solidFill>
                      <a:srgbClr val="005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005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5372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Plant × H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~ −XX°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Load-dependent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644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ADC delay (5 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~ −X°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Padé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2581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Digital PID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~ +XX°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Phase boost from zeros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3347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DAC filter (500 kHz)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~ −X°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Single pole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3918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Blanking delay (15 ns)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~ −X°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Padé model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5712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Comp delay (8 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~ −X°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Padé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36168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~ −XXX°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4392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Phase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PM = Total + 180°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Target ≥ 35°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23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347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83F349-E5C6-5C83-3D86-F5E856FBDD38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33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D416DE-37DF-6725-B4F9-8FDE103EE461}"/>
              </a:ext>
            </a:extLst>
          </p:cNvPr>
          <p:cNvSpPr txBox="1"/>
          <p:nvPr/>
        </p:nvSpPr>
        <p:spPr>
          <a:xfrm>
            <a:off x="548640" y="137160"/>
            <a:ext cx="109728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3. RTL-Accurate Coefficient Mapping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B9A5C3-5EFB-55D2-C6C8-0DC918B6AF5D}"/>
              </a:ext>
            </a:extLst>
          </p:cNvPr>
          <p:cNvSpPr txBox="1"/>
          <p:nvPr/>
        </p:nvSpPr>
        <p:spPr>
          <a:xfrm>
            <a:off x="731520" y="1280160"/>
            <a:ext cx="10515600" cy="30469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Three equivalent representations of the same controller: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Lab Position [P, I, D]  ↔  RTL [K1, K2, K3]  ↔  Effective [Kp, Ki, Kd]</a:t>
            </a:r>
          </a:p>
          <a:p>
            <a:endParaRPr lang="en-US" sz="16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Lab → RTL:   K1 = P+I+D,   K2 = −P−2D,   K3 = D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RTL → PID:   Kp = −K2−2K3,  Ki = (K1+K2+K3)/Tctrl,  Kd = K3·Tctrl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Effective:    Kp_eff = Kp · G_digital,  Ki_eff = Ki · G_digital,  Kd_eff = Kd · G_digital</a:t>
            </a:r>
          </a:p>
          <a:p>
            <a:endParaRPr lang="en-US" sz="16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RTL PID recursion (velocity form):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u[n] = u[n−1] + K1·e[n] + K2·e[n−1] + K3·e[n−2]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output = (u &gt;&gt; 6) + 2048</a:t>
            </a:r>
          </a:p>
          <a:p>
            <a:endParaRPr lang="en-US" sz="16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All conversions are invertible — any representation maps to any other</a:t>
            </a:r>
          </a:p>
        </p:txBody>
      </p:sp>
    </p:spTree>
    <p:extLst>
      <p:ext uri="{BB962C8B-B14F-4D97-AF65-F5344CB8AC3E}">
        <p14:creationId xmlns:p14="http://schemas.microsoft.com/office/powerpoint/2010/main" val="2931935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637CE7-5FE8-95C2-B2E2-0670BE50B054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33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9A9D1B-98D0-B0DF-2FE1-25119C7AC8BD}"/>
              </a:ext>
            </a:extLst>
          </p:cNvPr>
          <p:cNvSpPr txBox="1"/>
          <p:nvPr/>
        </p:nvSpPr>
        <p:spPr>
          <a:xfrm>
            <a:off x="548640" y="137160"/>
            <a:ext cx="109728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3. Hardware Constraints on PID Design Space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70B096-E272-D189-2AA1-29019FCE8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522261"/>
              </p:ext>
            </p:extLst>
          </p:nvPr>
        </p:nvGraphicFramePr>
        <p:xfrm>
          <a:off x="822960" y="137160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2723325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799342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689852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2009093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Coefficient</a:t>
                      </a:r>
                    </a:p>
                  </a:txBody>
                  <a:tcPr>
                    <a:solidFill>
                      <a:srgbClr val="005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Bit Width</a:t>
                      </a:r>
                    </a:p>
                  </a:txBody>
                  <a:tcPr>
                    <a:solidFill>
                      <a:srgbClr val="005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Range</a:t>
                      </a:r>
                    </a:p>
                  </a:txBody>
                  <a:tcPr>
                    <a:solidFill>
                      <a:srgbClr val="005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Constraint</a:t>
                      </a:r>
                    </a:p>
                  </a:txBody>
                  <a:tcPr>
                    <a:solidFill>
                      <a:srgbClr val="005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6181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K1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20-bit signed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±524,287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|K1| ≤ 2^19 − 1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704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K2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20-bit signed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±524,287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|K2| ≤ 2^19 − 1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1061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K3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11-bit signed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±1,023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|K3| ≤ 2^10 − 1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1953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PID accumulator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Pre-clamp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−131,072 to +131,008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RTL MIN/MAX_VALUE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1721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PID output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12-bit unsigned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0 – 4,095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After &gt;&gt;6 + 2048 offset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6412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Ki resolution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~4×10⁶ LSB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Coarse 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Integer I_cmd quantization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85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5185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DDD657-2F58-AF9C-DDD5-57A6EFD9081F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33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4DB41-BE39-CE50-F6EB-4EAA321679E0}"/>
              </a:ext>
            </a:extLst>
          </p:cNvPr>
          <p:cNvSpPr txBox="1"/>
          <p:nvPr/>
        </p:nvSpPr>
        <p:spPr>
          <a:xfrm>
            <a:off x="548640" y="137160"/>
            <a:ext cx="109728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4. Global PID Optimization —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8FA12-4E97-B14A-23CE-689AE3377F19}"/>
              </a:ext>
            </a:extLst>
          </p:cNvPr>
          <p:cNvSpPr txBox="1"/>
          <p:nvPr/>
        </p:nvSpPr>
        <p:spPr>
          <a:xfrm>
            <a:off x="731520" y="1280160"/>
            <a:ext cx="10515600" cy="37856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Goal: Find [Kp, Ki, Kd] maximizing stability + transient performance across 9 loads</a:t>
            </a:r>
          </a:p>
          <a:p>
            <a:endParaRPr lang="en-US" sz="16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Search space (log10 scaled):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Kp ∈ [0.016, 10000]    Ki ∈ [4×10⁶, 5×10⁸]    Kd ∈ [Kd_min, Kd_max]</a:t>
            </a:r>
          </a:p>
          <a:p>
            <a:endParaRPr lang="en-US" sz="16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Load sweep:  Iload = [1mA, 100mA, 300mA, 500mA, 700mA, 900mA, 1.1A, 2A, 3A]</a:t>
            </a:r>
          </a:p>
          <a:p>
            <a:endParaRPr lang="en-US" sz="16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Two-stage optimizer: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1. PSO (Particle Swarm) — 40 particles × 80 iterations → global exploration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2. Nelder-Mead hybrid refinement → local polishing of best PSO result</a:t>
            </a:r>
          </a:p>
          <a:p>
            <a:endParaRPr lang="en-US" sz="16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Hard constraints: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• Closed-loop stable at ALL load points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• PM ≥ 35°,  GM ≥ 6 dB at every load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• K1/K2/K3 within RTL bit-width (200-point penalty per overflow)</a:t>
            </a:r>
          </a:p>
        </p:txBody>
      </p:sp>
    </p:spTree>
    <p:extLst>
      <p:ext uri="{BB962C8B-B14F-4D97-AF65-F5344CB8AC3E}">
        <p14:creationId xmlns:p14="http://schemas.microsoft.com/office/powerpoint/2010/main" val="2308222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DF3FFF-CCEB-2593-EB34-B0AFB0B62A0C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33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CDDDD2-5481-2993-7BF8-4C56AD5C8B5A}"/>
              </a:ext>
            </a:extLst>
          </p:cNvPr>
          <p:cNvSpPr txBox="1"/>
          <p:nvPr/>
        </p:nvSpPr>
        <p:spPr>
          <a:xfrm>
            <a:off x="548640" y="137160"/>
            <a:ext cx="109728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4. Multi-Metric Cost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4EC167-429D-446D-AEF9-3665F8C64B77}"/>
              </a:ext>
            </a:extLst>
          </p:cNvPr>
          <p:cNvSpPr txBox="1"/>
          <p:nvPr/>
        </p:nvSpPr>
        <p:spPr>
          <a:xfrm>
            <a:off x="731520" y="1280160"/>
            <a:ext cx="10515600" cy="35548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cost = −score + overflow_penalty</a:t>
            </a:r>
          </a:p>
          <a:p>
            <a:endParaRPr lang="en-US" sz="15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Score = stability margins + load-step transient (all in one sum):</a:t>
            </a:r>
          </a:p>
          <a:p>
            <a:endParaRPr lang="en-US" sz="15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score = 2·PM_min + 1·GM_min + 0.15·PM_avg + 0.1·GM_avg − 1·|log₁₀(fc/fc_target)|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      + 12 · min(slew / 0.002, 10)             ← reward fast recovery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      − 12 · t_settle / 5µs                     ← penalize slow settling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         − 12 · </a:t>
            </a:r>
            <a:r>
              <a:rPr lang="el-GR" sz="1500">
                <a:solidFill>
                  <a:srgbClr val="404040"/>
                </a:solidFill>
                <a:latin typeface="Calibri" panose="020F0502020204030204" pitchFamily="34" charset="0"/>
              </a:rPr>
              <a:t>Δ</a:t>
            </a:r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V_undershoot / 20mV               ← penalize deep voltage dip</a:t>
            </a:r>
          </a:p>
          <a:p>
            <a:endParaRPr lang="en-US" sz="15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All terms contribute to a single score — optimizer maximizes the total</a:t>
            </a:r>
          </a:p>
          <a:p>
            <a:endParaRPr lang="en-US" sz="15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Margin caps:  PM capped at 85°,  GM capped at 40 dB</a:t>
            </a: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Overflow penalty:  +200 per K1/K2/K3 exceeding RTL bit-width</a:t>
            </a:r>
          </a:p>
          <a:p>
            <a:endParaRPr lang="en-US" sz="15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Convergence visualization: cost vs iteration with PSO → fminsearch transition marker</a:t>
            </a:r>
          </a:p>
        </p:txBody>
      </p:sp>
    </p:spTree>
    <p:extLst>
      <p:ext uri="{BB962C8B-B14F-4D97-AF65-F5344CB8AC3E}">
        <p14:creationId xmlns:p14="http://schemas.microsoft.com/office/powerpoint/2010/main" val="933515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AF7355-68BF-8B36-B885-17EAF5A75E06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33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355935-682C-477D-917C-5C8526D0B3A7}"/>
              </a:ext>
            </a:extLst>
          </p:cNvPr>
          <p:cNvSpPr txBox="1"/>
          <p:nvPr/>
        </p:nvSpPr>
        <p:spPr>
          <a:xfrm>
            <a:off x="548640" y="137160"/>
            <a:ext cx="109728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5. Optimized Digital Loop vs Ideal Analog Compensator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421FA9-CA55-FF23-5168-C301279A0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978586"/>
              </p:ext>
            </p:extLst>
          </p:nvPr>
        </p:nvGraphicFramePr>
        <p:xfrm>
          <a:off x="822960" y="13716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7092201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750600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238924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1010701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05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Analog (Ideal Hc)</a:t>
                      </a:r>
                    </a:p>
                  </a:txBody>
                  <a:tcPr>
                    <a:solidFill>
                      <a:srgbClr val="005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Digital (Optimized)</a:t>
                      </a:r>
                    </a:p>
                  </a:txBody>
                  <a:tcPr>
                    <a:solidFill>
                      <a:srgbClr val="005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005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4344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Compensator type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Type-II continuous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Velocity PID (K1/K2/K3)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2784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Phase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XX°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XX°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Fill from simulation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7338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Gain Margin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XX dB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XX dB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Fill from simulation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8918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Crossover freq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600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~XXX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Target = fs/10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18812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Phase loss sources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ADC/DAC/blanking delays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10–20° typical loss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5275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Quantization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Infinite resolution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Integer K1/K2/K3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Finite bit-width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9244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Load robustness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Single operating pt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9 loads simultaneously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1mA to 3A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707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5032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BFB5FB-79B1-CC66-EA4B-F0D9938E3B34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33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1075DF-EFCC-4384-A6D2-6A5ADA9DB421}"/>
              </a:ext>
            </a:extLst>
          </p:cNvPr>
          <p:cNvSpPr txBox="1"/>
          <p:nvPr/>
        </p:nvSpPr>
        <p:spPr>
          <a:xfrm>
            <a:off x="548640" y="137160"/>
            <a:ext cx="109728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5. 3D Stability Design Space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29F44-7747-7A92-16F8-367D422F644C}"/>
              </a:ext>
            </a:extLst>
          </p:cNvPr>
          <p:cNvSpPr txBox="1"/>
          <p:nvPr/>
        </p:nvSpPr>
        <p:spPr>
          <a:xfrm>
            <a:off x="731520" y="1280160"/>
            <a:ext cx="10515600" cy="37856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Axes: Kd (X),  Ki (Y),  Kp (Z)  — log-scaled</a:t>
            </a:r>
          </a:p>
          <a:p>
            <a:endParaRPr lang="en-US" sz="16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GREEN = stable at ALL 9 load points (PM ≥ 35°, GM ≥ 6 dB)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RED = unstable or insufficient margins at any load point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BLUE STAR = optimizer's selected solution</a:t>
            </a:r>
          </a:p>
          <a:p>
            <a:endParaRPr lang="en-US" sz="16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Key insights: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• The stable region is a bounded volume — not all PID combinations work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• Optimizer solution sits inside the stable region, near the best-margin boundary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• Boundaries shift with load current — multi-load check is essential</a:t>
            </a:r>
          </a:p>
          <a:p>
            <a:endParaRPr lang="en-US" sz="16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2D projections (Kd-Ki, Kd-Kp, Ki-Kp) show the stable envelope for each pair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→ Green if stable for ANY value in the collapsed axis</a:t>
            </a:r>
          </a:p>
          <a:p>
            <a:endParaRPr lang="en-US" sz="16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Grid: 25 × 25 × 15 = 9,375 points evaluated</a:t>
            </a:r>
          </a:p>
        </p:txBody>
      </p:sp>
    </p:spTree>
    <p:extLst>
      <p:ext uri="{BB962C8B-B14F-4D97-AF65-F5344CB8AC3E}">
        <p14:creationId xmlns:p14="http://schemas.microsoft.com/office/powerpoint/2010/main" val="2246395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D4AD3C-27B3-4B01-9653-ECFB626E495A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33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F36A7-6122-120D-90B8-FEEFF98D73F4}"/>
              </a:ext>
            </a:extLst>
          </p:cNvPr>
          <p:cNvSpPr txBox="1"/>
          <p:nvPr/>
        </p:nvSpPr>
        <p:spPr>
          <a:xfrm>
            <a:off x="548640" y="137160"/>
            <a:ext cx="109728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6. RTL-Accurate Cycle-by-Cycle Nonlinear Predictor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DF964A-F5D2-2DCB-DB40-6220F985D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216284"/>
              </p:ext>
            </p:extLst>
          </p:nvPr>
        </p:nvGraphicFramePr>
        <p:xfrm>
          <a:off x="822960" y="137160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30039429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06563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514061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005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Implementation</a:t>
                      </a:r>
                    </a:p>
                  </a:txBody>
                  <a:tcPr>
                    <a:solidFill>
                      <a:srgbClr val="005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005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9126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ADC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4-bit quantization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0.36–0.44V window, 16 levels, 5mV/LSB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080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PID accumulator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Velocity form + pre-clamp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solidFill>
                            <a:srgbClr val="000000"/>
                          </a:solidFill>
                        </a:rPr>
                        <a:t>K1·e[n] + K2·e[n−1] + K3·e[n−2]</a:t>
                      </a:r>
                      <a:endParaRPr lang="en-US" sz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8447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Shift + offset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&gt;&gt;6 then +2048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Unsigned 12-bit output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9128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DAC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12-bit code → analog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NMOS Vth cap at 1.6V (not 1.8V)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2778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DAC filter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500 kHz analog pole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Discrete IIR at Tctrl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4808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Plant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State-space @ Tctrl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Control path + load disturbance (parallel)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06567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Load disturbance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Gload = −Zout_OL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Passive output impedance only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9306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Load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Configurable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Delay, rise time, amplitude, width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954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5766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2AB65D-CA43-136C-F9BE-DB5CC749DFD4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33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AC5F28-1661-545B-F2A5-141370067E54}"/>
              </a:ext>
            </a:extLst>
          </p:cNvPr>
          <p:cNvSpPr txBox="1"/>
          <p:nvPr/>
        </p:nvSpPr>
        <p:spPr>
          <a:xfrm>
            <a:off x="548640" y="137160"/>
            <a:ext cx="109728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6. Validation Pipeline: Predictor → AMS → Silicon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3236DA-3C3E-A2FE-1A7F-44E394569359}"/>
              </a:ext>
            </a:extLst>
          </p:cNvPr>
          <p:cNvSpPr txBox="1"/>
          <p:nvPr/>
        </p:nvSpPr>
        <p:spPr>
          <a:xfrm>
            <a:off x="731520" y="1280160"/>
            <a:ext cx="10515600" cy="427809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Tiered validation flow: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Optimizer  →  Nonlinear Predictor  →  AMS Simulation  →  Silicon</a:t>
            </a:r>
          </a:p>
          <a:p>
            <a:endParaRPr lang="en-US" sz="16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(fast, 1000s        (catches quant/          (full circuit       (final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 of evals)           saturation effects)       validation)         proof)</a:t>
            </a:r>
          </a:p>
          <a:p>
            <a:endParaRPr lang="en-US" sz="16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Metrics compared at each stage: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• Vout undershoot:   target &lt; 20 mV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• Recovery slew:     target &gt; 0.002 V/µs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• Settling time:     target &lt; 5 µs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• Steady-state Vout: 0.800 V</a:t>
            </a:r>
          </a:p>
          <a:p>
            <a:endParaRPr lang="en-US" sz="16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Why this tiered approach?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→ Linear model: fast optimization (thousands of evaluations in minutes)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→ Nonlinear predictor: catches effects the linear model misses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→ AMS: full circuit-level validation before silicon commitment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→ Saves weeks of AMS iteration time</a:t>
            </a:r>
          </a:p>
        </p:txBody>
      </p:sp>
    </p:spTree>
    <p:extLst>
      <p:ext uri="{BB962C8B-B14F-4D97-AF65-F5344CB8AC3E}">
        <p14:creationId xmlns:p14="http://schemas.microsoft.com/office/powerpoint/2010/main" val="2005230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563480-F988-958F-85AE-D1F40F9C989B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33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7C237D-B9C6-67CF-9F0B-DFA5DAC9E841}"/>
              </a:ext>
            </a:extLst>
          </p:cNvPr>
          <p:cNvSpPr txBox="1"/>
          <p:nvPr/>
        </p:nvSpPr>
        <p:spPr>
          <a:xfrm>
            <a:off x="548640" y="137160"/>
            <a:ext cx="109728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Summary — NGSTability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272E25-21AA-1B3C-8D07-29F5B6592948}"/>
              </a:ext>
            </a:extLst>
          </p:cNvPr>
          <p:cNvSpPr txBox="1"/>
          <p:nvPr/>
        </p:nvSpPr>
        <p:spPr>
          <a:xfrm>
            <a:off x="731520" y="1280160"/>
            <a:ext cx="10515600" cy="40318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1.  Small-signal Laplace-domain model of the PCM feedback loop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  → Closed-form plant, digital blocks, delays — all analytically derived</a:t>
            </a:r>
          </a:p>
          <a:p>
            <a:endParaRPr lang="en-US" sz="16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2.  RTL-accurate coefficient mapping (K1/K2/K3 ↔ Lab P/I/D ↔ Kp/Ki/Kd)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  → Exact quantization and bit-width constraints from RTL</a:t>
            </a:r>
          </a:p>
          <a:p>
            <a:endParaRPr lang="en-US" sz="16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3.  Global optimization (PSO + Nelder-Mead) across full load range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  → Cost function: PM + GM + crossover + load-step transient metrics</a:t>
            </a:r>
          </a:p>
          <a:p>
            <a:endParaRPr lang="en-US" sz="16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4.  3D stability map visualization of the feasible PID design space</a:t>
            </a:r>
          </a:p>
          <a:p>
            <a:endParaRPr lang="en-US" sz="16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5.  Cycle-by-cycle nonlinear predictor for AMS correlation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  → RTL-accurate ADC/DAC quantization, PID clamping, load disturbance</a:t>
            </a:r>
          </a:p>
          <a:p>
            <a:endParaRPr lang="en-US" sz="160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6.  Validated pipeline: Linear model → Predictor → AMS → Silicon</a:t>
            </a:r>
          </a:p>
          <a:p>
            <a:r>
              <a:rPr lang="en-US" sz="1600">
                <a:solidFill>
                  <a:srgbClr val="404040"/>
                </a:solidFill>
                <a:latin typeface="Calibri" panose="020F0502020204030204" pitchFamily="34" charset="0"/>
              </a:rPr>
              <a:t>     → Each tier catches progressively finer effects while managing compute cost</a:t>
            </a:r>
          </a:p>
        </p:txBody>
      </p:sp>
    </p:spTree>
    <p:extLst>
      <p:ext uri="{BB962C8B-B14F-4D97-AF65-F5344CB8AC3E}">
        <p14:creationId xmlns:p14="http://schemas.microsoft.com/office/powerpoint/2010/main" val="170929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2052</Words>
  <Application>Microsoft Office PowerPoint</Application>
  <PresentationFormat>Custom</PresentationFormat>
  <Paragraphs>279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Alwilly, Yazan</dc:creator>
  <cp:lastModifiedBy>Alwilly, Yazan</cp:lastModifiedBy>
  <cp:revision>1</cp:revision>
  <dcterms:created xsi:type="dcterms:W3CDTF">2026-04-13T19:12:52Z</dcterms:created>
  <dcterms:modified xsi:type="dcterms:W3CDTF">2026-04-13T19:12:52Z</dcterms:modified>
</cp:coreProperties>
</file>