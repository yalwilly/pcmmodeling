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4" r:id="rId10"/>
    <p:sldId id="270" r:id="rId11"/>
    <p:sldId id="267" r:id="rId12"/>
    <p:sldId id="263" r:id="rId13"/>
    <p:sldId id="265" r:id="rId14"/>
    <p:sldId id="266" r:id="rId15"/>
    <p:sldId id="268" r:id="rId16"/>
    <p:sldId id="269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6" d="100"/>
          <a:sy n="26" d="100"/>
        </p:scale>
        <p:origin x="108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61A1-01E7-2D3D-0884-D26737047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4C577-11AB-35C9-B003-A2B23E30B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106F-871C-0EE2-6CB7-9EA66BE62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5EBA4-0310-3BD6-02D5-7DF68C66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7920F-6FB1-9CF1-F1E2-8DD504A2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FD43-E99E-7025-3340-F4C60E73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C0FDE-04F4-0A60-3FB0-5067335C6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529A9-6C8A-2AE1-A1FA-693BDF7C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30A9D-0911-8169-2E34-06E77CC58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93718-B359-8199-CDFD-364908F3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1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6AF7-E0FB-1362-8585-5A243089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EDF9D-3BB1-6B64-BA2E-BFDFBE936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9203E-98E3-B65D-37C9-1423ACCA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4349B-627E-0981-75D0-0B21AB7A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D4FA-C3E2-4443-D147-D4E7D9AA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6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9D2E-7CFD-7606-F510-D7A1DE9B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A662-D513-1F3D-E0F1-99DEEB155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9A26E-9D8C-571E-D39C-94186F3D8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51C2F-6E08-CEDA-822F-B452686C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4746D-7425-D74C-BC91-ACC4696D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7DA59-1D41-4A2F-175D-15B4B386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ED00-805F-3644-FBB6-B3F29E98C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8C0BF-65F4-0D9D-6F72-CC5912810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637E9-CD06-FDC1-DE97-A968FD5AC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FA63C-3E30-17CE-D27B-0DDB80F88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E02E9-9321-3C8F-8865-254C36F18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DAC93-7026-8A9D-4733-49B9EC6C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04DCF-2C46-2E6D-D0E9-70CBBFD5B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6CC9F-A099-0012-E348-AC2EC9D6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6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D1A4-94E4-FFB8-C989-9C79AFB1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97F52-5A14-6F4F-CCAF-991C939D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EB7BC-A8A8-DB73-FFC1-8497D1BE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D9B34-60C5-30B7-E4C5-E1D61F7A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4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10DB0-53BF-9091-BEFB-5738522D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1C77FA-19AB-B2D5-AD88-934A0998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38B2B-ADB9-F932-6FBE-A6A304BE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7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D989-5B82-5F06-E7C3-25F42286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EB236-1DFC-8CB8-D9D0-2BBFAC677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2F8A1-5C36-4EBD-0551-5B37B9409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24FDB-2256-C66A-17C9-79C0E7EC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BEA4F-0E7E-2C93-EB2D-AE9C7A04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0EA83-E6CF-1D59-DE0E-AABDFD25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2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F86E-EAED-E5D2-14A0-3E176DD2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FFCA9-0980-A03B-A01A-BDFDC22F4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91C17-CDBD-6A07-2467-B665B41DB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3B8F-F5B4-D254-02AE-03F5CFBE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86DD6-E7A7-C7A8-56A5-39924510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32178-088E-988B-30D4-0D630C948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8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37CB-5863-53B9-82E2-FF9B1DC6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ACA47-DFA1-E085-FBB0-C3443E5D1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79824-2A4B-37DF-6B36-9D056B88F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7707-7ABE-58F6-B10E-13892645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A289D-12CC-265A-E26A-746780B8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5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6B754-8743-2C1B-781A-33E293296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F3115-389B-1A83-A1DB-B0E61772A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E1F05-8BBA-1F36-A681-52514C91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530CA-6F82-D26E-FF3B-2F0FA503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B0FCC-81AD-B4D7-EB26-D7FD9E57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9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148D0-2573-F742-8D74-6EE4ACCE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5F030-3037-9772-7933-4034DF7D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3B5E0-CFB3-31CA-425B-18EFFBE60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51A2B-746C-42D1-A17D-C8813409A67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67C56-7F5D-F11E-A5EF-9240566E9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3B783-5A22-E044-A8DB-5C9463760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4ECFE-0FB8-42A1-814F-7CF207B38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9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06CF-9AD7-3399-22DB-DF5035817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NG PMIC FB loop MATLAB Modeling</a:t>
            </a:r>
          </a:p>
        </p:txBody>
      </p:sp>
    </p:spTree>
    <p:extLst>
      <p:ext uri="{BB962C8B-B14F-4D97-AF65-F5344CB8AC3E}">
        <p14:creationId xmlns:p14="http://schemas.microsoft.com/office/powerpoint/2010/main" val="286198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66D1-DA74-7099-91AE-D25D02BF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A2E97-1320-71E1-0B1D-EA7F26353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predict the Next Gen PMIC FB loop behavior with high accuracy stability analysis is needed with the following steps 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Modeling the FB loop in small signal </a:t>
            </a:r>
            <a:r>
              <a:rPr lang="en-US" dirty="0" err="1"/>
              <a:t>laplace</a:t>
            </a:r>
            <a:r>
              <a:rPr lang="en-US" dirty="0"/>
              <a:t> domain – Benchmark different models.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Calculate the required compensation transfer function – analytically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Fine tune the Digital Voltage loop transfer function to behave like the analytical calculation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Feed the new PID settings into AMS simulation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26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CD32-2B35-5DC9-51E3-85EC30F7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Gen DCDC High Level Architectural Diagram​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008347-A067-D9A7-78BA-219977B2C2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321" y="1825625"/>
            <a:ext cx="709135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D5E1-4AF8-6DCB-C1B6-6315E520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Small Signal Model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755A91C-8592-F078-A9F0-695A8B7DB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32" y="2438453"/>
            <a:ext cx="11348140" cy="2438347"/>
          </a:xfrm>
        </p:spPr>
      </p:pic>
    </p:spTree>
    <p:extLst>
      <p:ext uri="{BB962C8B-B14F-4D97-AF65-F5344CB8AC3E}">
        <p14:creationId xmlns:p14="http://schemas.microsoft.com/office/powerpoint/2010/main" val="4007078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6C9F-35FA-CFF8-51F7-076DA5DD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/>
              <a:t>First Model – Derived From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826BE-8B4C-2495-A7D2-712E6C173E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4767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Overall control-to-output plant decomposition :</a:t>
                </a:r>
              </a:p>
              <a:p>
                <a:pPr marL="457200" lvl="1" indent="0">
                  <a:buNone/>
                </a:pPr>
                <a:endParaRPr lang="en-US" sz="2000" b="0" i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vc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ar-AE" sz="2000" i="1"/>
                        <m:t>  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sz="2000" i="1"/>
                        <m:t>  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m:rPr>
                          <m:nor/>
                        </m:rPr>
                        <a:rPr lang="ar-AE" sz="2000" i="1"/>
                        <m:t>  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nor/>
                        </m:rPr>
                        <a:rPr lang="ar-AE" sz="2000" i="1"/>
                        <m:t>  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Purpose:</a:t>
                </a:r>
                <a:r>
                  <a:rPr lang="en-US" sz="2400" dirty="0"/>
                  <a:t> model a </a:t>
                </a:r>
                <a:r>
                  <a:rPr lang="en-US" sz="2400" b="1" dirty="0"/>
                  <a:t>peak current-mode buck</a:t>
                </a:r>
                <a:r>
                  <a:rPr lang="en-US" sz="2400" dirty="0"/>
                  <a:t> by splitting behavior into: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</m:oMath>
                </a14:m>
                <a:r>
                  <a:rPr lang="ar-AE" sz="2000" b="1" dirty="0"/>
                  <a:t>:</a:t>
                </a:r>
                <a:r>
                  <a:rPr lang="ar-AE" sz="2000" dirty="0"/>
                  <a:t> </a:t>
                </a:r>
                <a:r>
                  <a:rPr lang="en-US" sz="2000" dirty="0"/>
                  <a:t> DC Voltage to control scaling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000" b="0" i="0" dirty="0">
                    <a:latin typeface="Cambria Math" panose="02040503050406030204" pitchFamily="18" charset="0"/>
                  </a:rPr>
                  <a:t>Power stage smal</a:t>
                </a:r>
                <a:r>
                  <a:rPr lang="en-US" sz="2000" dirty="0">
                    <a:latin typeface="Cambria Math" panose="02040503050406030204" pitchFamily="18" charset="0"/>
                  </a:rPr>
                  <a:t>l signal model.</a:t>
                </a:r>
                <a:endParaRPr lang="en-US" sz="2000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b="1" dirty="0"/>
                  <a:t>:</a:t>
                </a:r>
                <a:r>
                  <a:rPr lang="ar-AE" sz="2000" dirty="0"/>
                  <a:t> </a:t>
                </a:r>
                <a:r>
                  <a:rPr lang="en-US" sz="2000" dirty="0"/>
                  <a:t>high-frequency sampled-data effect (double pole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2000" dirty="0"/>
              </a:p>
              <a:p>
                <a:pPr marL="0" indent="0">
                  <a:buNone/>
                </a:pPr>
                <a:r>
                  <a:rPr lang="en-US" sz="2400" dirty="0"/>
                  <a:t>*Consider to add the blank delay to here.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826BE-8B4C-2495-A7D2-712E6C173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47675"/>
                <a:ext cx="10515600" cy="4351338"/>
              </a:xfrm>
              <a:blipFill>
                <a:blip r:embed="rId4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810EB85-D5CD-60C8-00DF-A9E49F19BDF9}"/>
              </a:ext>
            </a:extLst>
          </p:cNvPr>
          <p:cNvSpPr txBox="1"/>
          <p:nvPr/>
        </p:nvSpPr>
        <p:spPr>
          <a:xfrm>
            <a:off x="2762250" y="1179294"/>
            <a:ext cx="666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Analysis and Modeling of Digital Peak Current</a:t>
            </a:r>
          </a:p>
          <a:p>
            <a:pPr algn="ctr"/>
            <a:r>
              <a:rPr lang="en-US" b="1" dirty="0"/>
              <a:t>Mode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A8CB6C-DEDF-7969-F379-7BDFC0302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001" y="645893"/>
            <a:ext cx="3971140" cy="320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2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96E1242-B248-7145-F787-DD50713971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DC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96E1242-B248-7145-F787-DD5071397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BB0F7-BFAA-44F9-EF0E-9B6BDFD43F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DC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ar-AE" sz="200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Removing the current sense downscaling </a:t>
                </a:r>
              </a:p>
              <a:p>
                <a:pPr marL="0" indent="0">
                  <a:buNone/>
                </a:pPr>
                <a:r>
                  <a:rPr lang="en-US" sz="2400" dirty="0"/>
                  <a:t>Denominator term: sampled-data/current-mode correction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ar-AE" sz="2000" dirty="0"/>
              </a:p>
              <a:p>
                <a:pPr marL="0" indent="0">
                  <a:buNone/>
                </a:pPr>
                <a:r>
                  <a:rPr lang="en-US" sz="2400" dirty="0"/>
                  <a:t>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and/or larger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ar-AE" sz="2400" dirty="0"/>
                  <a:t>⇒ </a:t>
                </a:r>
                <a:r>
                  <a:rPr lang="en-US" sz="2400" dirty="0"/>
                  <a:t>lower effective DC gain (more damping)</a:t>
                </a:r>
              </a:p>
              <a:p>
                <a:pPr marL="0" indent="0">
                  <a:buNone/>
                </a:pPr>
                <a:r>
                  <a:rPr lang="en-US" sz="2000" dirty="0"/>
                  <a:t>*On our case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</m:num>
                          <m:den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den>
                    </m:f>
                    <m:r>
                      <a:rPr lang="ar-AE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neglectable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BB0F7-BFAA-44F9-EF0E-9B6BDFD43F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86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B7E55C-1B96-09CB-DC61-12E47182B55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>
                    <a:latin typeface="Cambria Math" panose="02040503050406030204" pitchFamily="18" charset="0"/>
                  </a:rPr>
                  <a:t>Power stage small signal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B7E55C-1B96-09CB-DC61-12E47182B5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C30F9-0A3B-7F87-7FCC-17B908697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  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i="1"/>
                        <m:t>  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𝑠𝐶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n-US" b="1" dirty="0"/>
                  <a:t>Poles/zeros</a:t>
                </a:r>
              </a:p>
              <a:p>
                <a:pPr marL="0" indent="0">
                  <a:buNone/>
                </a:pPr>
                <a:r>
                  <a:rPr lang="en-US" sz="2900" dirty="0"/>
                  <a:t>Zero 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𝐸𝑆𝑅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sz="3300" dirty="0"/>
                  <a:t>This is the classic output capacitor ESR zero </a:t>
                </a:r>
              </a:p>
              <a:p>
                <a:pPr marL="0" indent="0">
                  <a:buNone/>
                </a:pPr>
                <a:r>
                  <a:rPr lang="en-US" sz="3300" dirty="0"/>
                  <a:t>Single pole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ar-AE" sz="3300" dirty="0"/>
                  <a:t>.</a:t>
                </a:r>
                <a:endParaRPr lang="en-US" sz="33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  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i="1"/>
                        <m:t>  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𝐶𝑅</m:t>
                          </m:r>
                        </m:den>
                      </m:f>
                      <m:r>
                        <m:rPr>
                          <m:nor/>
                        </m:rPr>
                        <a:rPr lang="ar-AE" i="1"/>
                        <m:t>  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ar-AE" i="1"/>
                        <m:t>  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3300" dirty="0"/>
                  <a:t>This says the “dominant” low-frequency pole is not only the usual RC output pole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33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𝐶𝑅</m:t>
                        </m:r>
                      </m:den>
                    </m:f>
                  </m:oMath>
                </a14:m>
                <a:r>
                  <a:rPr lang="ar-AE" sz="3300" dirty="0"/>
                  <a:t>, </a:t>
                </a:r>
                <a:r>
                  <a:rPr lang="en-US" sz="3300" dirty="0"/>
                  <a:t>but it is</a:t>
                </a:r>
              </a:p>
              <a:p>
                <a:pPr marL="0" indent="0">
                  <a:buNone/>
                </a:pPr>
                <a:r>
                  <a:rPr lang="en-US" sz="3300" dirty="0"/>
                  <a:t> shifted by a term that comes from current-mode sampling / slope compensation effects</a:t>
                </a:r>
              </a:p>
              <a:p>
                <a:pPr marL="0" indent="0">
                  <a:buNone/>
                </a:pPr>
                <a:r>
                  <a:rPr lang="en-US" sz="3300" dirty="0"/>
                  <a:t>*In our case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𝐶𝑅</m:t>
                        </m:r>
                      </m:den>
                    </m:f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m:rPr>
                        <m:nor/>
                      </m:rPr>
                      <a:rPr lang="ar-AE" sz="3300" i="1"/>
                      <m:t> </m:t>
                    </m:r>
                    <m:f>
                      <m:f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3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3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33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ar-AE" sz="3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3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33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ar-AE" sz="33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33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33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ar-AE" sz="330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ar-AE" sz="33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330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330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330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num>
                      <m:den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𝐿𝐶</m:t>
                        </m:r>
                      </m:den>
                    </m:f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300" dirty="0"/>
                  <a:t> so the second term is neglectable.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ar-AE" b="0" dirty="0"/>
              </a:p>
              <a:p>
                <a:pPr marL="0" indent="0">
                  <a:buNone/>
                </a:pP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C30F9-0A3B-7F87-7FCC-17B908697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74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86E833-F284-2E2C-6B02-A9052F4E1F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High-frequency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86E833-F284-2E2C-6B02-A9052F4E1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69EE-5535-EB08-C801-A9F51995A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8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8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8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ar-AE" sz="8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8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nor/>
                        </m:rPr>
                        <a:rPr lang="ar-AE" sz="8000" i="1"/>
                        <m:t>  </m:t>
                      </m:r>
                      <m:r>
                        <a:rPr lang="ar-AE" sz="8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sz="8000" i="1"/>
                        <m:t>  </m:t>
                      </m:r>
                      <m:f>
                        <m:fPr>
                          <m:ctrlPr>
                            <a:rPr lang="ar-AE" sz="8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8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8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80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8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8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  <m:r>
                            <a:rPr lang="ar-AE" sz="80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8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8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ar-AE" sz="8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</m:oMath>
                  </m:oMathPara>
                </a14:m>
                <a:endParaRPr lang="en-US" sz="6200" dirty="0"/>
              </a:p>
              <a:p>
                <a:pPr marL="0" indent="0">
                  <a:buNone/>
                </a:pPr>
                <a:r>
                  <a:rPr lang="en-US" sz="7200" dirty="0">
                    <a:latin typeface="+mj-lt"/>
                  </a:rPr>
                  <a:t>The high frequency transfer function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7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72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72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ar-AE" sz="7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7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m:rPr>
                        <m:nor/>
                      </m:rPr>
                      <a:rPr lang="ar-AE" sz="7200" i="1">
                        <a:latin typeface="+mj-lt"/>
                      </a:rPr>
                      <m:t> </m:t>
                    </m:r>
                  </m:oMath>
                </a14:m>
                <a:r>
                  <a:rPr lang="en-US" sz="7200" dirty="0">
                    <a:latin typeface="+mj-lt"/>
                  </a:rPr>
                  <a:t>It gives a double pole at half the switching frequency n. The LC filter</a:t>
                </a:r>
              </a:p>
              <a:p>
                <a:pPr marL="0" indent="0">
                  <a:buNone/>
                </a:pPr>
                <a:r>
                  <a:rPr lang="en-US" sz="7200" dirty="0">
                    <a:latin typeface="+mj-lt"/>
                  </a:rPr>
                  <a:t>resonance is eliminated with current feedback. The damping </a:t>
                </a:r>
                <a14:m>
                  <m:oMath xmlns:m="http://schemas.openxmlformats.org/officeDocument/2006/math">
                    <m:r>
                      <a:rPr lang="en-US" sz="7200" i="1" dirty="0" smtClean="0">
                        <a:latin typeface="Cambria Math" panose="02040503050406030204" pitchFamily="18" charset="0"/>
                      </a:rPr>
                      <m:t>𝑄𝑝</m:t>
                    </m:r>
                  </m:oMath>
                </a14:m>
                <a:r>
                  <a:rPr lang="en-US" sz="7200" dirty="0">
                    <a:latin typeface="+mj-lt"/>
                  </a:rPr>
                  <a:t> of this pole pair depends on the duty cycle</a:t>
                </a:r>
              </a:p>
              <a:p>
                <a:pPr marL="0" indent="0">
                  <a:buNone/>
                </a:pPr>
                <a:r>
                  <a:rPr lang="en-US" sz="7200" dirty="0">
                    <a:latin typeface="+mj-lt"/>
                  </a:rPr>
                  <a:t>and added external compensation factor (</a:t>
                </a:r>
                <a:r>
                  <a:rPr lang="en-US" sz="7200" i="1" dirty="0">
                    <a:latin typeface="+mj-lt"/>
                  </a:rPr>
                  <a:t>mc</a:t>
                </a:r>
                <a:r>
                  <a:rPr lang="en-US" sz="7200" dirty="0">
                    <a:latin typeface="+mj-lt"/>
                  </a:rPr>
                  <a:t>).</a:t>
                </a:r>
              </a:p>
              <a:p>
                <a:pPr marL="0" indent="0">
                  <a:buNone/>
                </a:pPr>
                <a:endParaRPr lang="en-US" sz="1500" dirty="0"/>
              </a:p>
              <a:p>
                <a:pPr marL="0" indent="0">
                  <a:buNone/>
                </a:pPr>
                <a:r>
                  <a:rPr lang="en-US" sz="8000" dirty="0"/>
                  <a:t>Natural frequency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sz="8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80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8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8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ar-AE" sz="8000" dirty="0"/>
                  <a:t>, </a:t>
                </a:r>
                <a:r>
                  <a:rPr lang="en-US" sz="8000" dirty="0"/>
                  <a:t>this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sz="8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800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8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ar-AE" sz="8000" dirty="0"/>
                  <a:t>→ </a:t>
                </a:r>
                <a:r>
                  <a:rPr lang="en-US" sz="8000" b="1" dirty="0"/>
                  <a:t>half the switching frequency</a:t>
                </a:r>
                <a:r>
                  <a:rPr lang="en-US" sz="8000" dirty="0"/>
                  <a:t>.</a:t>
                </a:r>
              </a:p>
              <a:p>
                <a:pPr marL="0" indent="0">
                  <a:buNone/>
                </a:pPr>
                <a:r>
                  <a:rPr lang="en-US" sz="8000" b="1" dirty="0"/>
                  <a:t>Quality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8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8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8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8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ar-AE" sz="8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8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80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ar-AE" sz="800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den>
                    </m:f>
                  </m:oMath>
                </a14:m>
                <a:endParaRPr lang="ar-AE" sz="8000" dirty="0"/>
              </a:p>
              <a:p>
                <a:pPr marL="0" indent="0">
                  <a:buNone/>
                </a:pPr>
                <a:r>
                  <a:rPr lang="en-US" sz="8000" b="1" dirty="0"/>
                  <a:t>Key stability insight:</a:t>
                </a:r>
                <a:endParaRPr lang="en-US" sz="8000" dirty="0"/>
              </a:p>
              <a:p>
                <a:pPr marL="0" indent="0">
                  <a:buNone/>
                </a:pPr>
                <a:r>
                  <a:rPr lang="en-US" sz="8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ar-AE" sz="8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sz="8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80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80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80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8000" dirty="0"/>
                  <a:t>is small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8000" dirty="0"/>
                  <a:t>becomes large → you get </a:t>
                </a:r>
                <a:r>
                  <a:rPr lang="en-US" sz="8000" b="1" dirty="0"/>
                  <a:t>peaking</a:t>
                </a:r>
                <a:r>
                  <a:rPr lang="en-US" sz="8000" dirty="0"/>
                  <a:t>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sz="8000" dirty="0"/>
                  <a:t>.</a:t>
                </a:r>
              </a:p>
              <a:p>
                <a:pPr marL="0" indent="0">
                  <a:buNone/>
                </a:pPr>
                <a:r>
                  <a:rPr lang="en-US" sz="8000" dirty="0"/>
                  <a:t>Increasing slope compensation (increasing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sz="8000" dirty="0"/>
                  <a:t>) </a:t>
                </a:r>
                <a:r>
                  <a:rPr lang="en-US" sz="8000" dirty="0"/>
                  <a:t>increases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p>
                          <m:sSup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ar-AE" sz="8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8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80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80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ar-AE" sz="8000" dirty="0"/>
                  <a:t>→ </a:t>
                </a:r>
                <a:r>
                  <a:rPr lang="en-US" sz="8000" b="1" dirty="0"/>
                  <a:t>reduces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ar-AE" sz="8000" dirty="0"/>
                  <a:t>→ </a:t>
                </a:r>
                <a:r>
                  <a:rPr lang="en-US" sz="8000" dirty="0"/>
                  <a:t>more damping / less peaking (generally safer).</a:t>
                </a:r>
              </a:p>
              <a:p>
                <a:pPr marL="0" indent="0">
                  <a:buNone/>
                </a:pPr>
                <a:endParaRPr lang="en-US" sz="1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2569EE-5535-EB08-C801-A9F51995A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38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81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63EFD5-C200-E390-D409-E6B7081BAF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b="1" dirty="0"/>
                  <a:t>Compensator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63EFD5-C200-E390-D409-E6B7081BA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453B8-3225-5FD0-3426-FC36FF648E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2925"/>
                <a:ext cx="10515600" cy="4351338"/>
              </a:xfrm>
            </p:spPr>
            <p:txBody>
              <a:bodyPr>
                <a:normAutofit fontScale="32500" lnSpcReduction="20000"/>
              </a:bodyPr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8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8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8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ar-AE" sz="8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8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8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8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ar-AE" sz="8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ar-AE" sz="8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sz="8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d>
                            <m:dPr>
                              <m:ctrlPr>
                                <a:rPr lang="ar-AE" sz="8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8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8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sz="8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8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ar-AE" sz="80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ar-AE" sz="8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80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8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8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ar-AE" sz="8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ar-AE" sz="8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ar-AE" sz="8000" dirty="0"/>
              </a:p>
              <a:p>
                <a:pPr marL="0" indent="0">
                  <a:buNone/>
                </a:pPr>
                <a:r>
                  <a:rPr lang="en-US" sz="8000" dirty="0"/>
                  <a:t>This is a </a:t>
                </a:r>
                <a:r>
                  <a:rPr lang="en-US" sz="8000" b="1" dirty="0"/>
                  <a:t>Type-II compensator</a:t>
                </a:r>
                <a:r>
                  <a:rPr lang="en-US" sz="8000" dirty="0"/>
                  <a:t> (PI + high-frequency pole):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6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6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64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6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6400" b="1" dirty="0"/>
                  <a:t>integrator</a:t>
                </a:r>
                <a:r>
                  <a:rPr lang="en-US" sz="6400" dirty="0"/>
                  <a:t> → high DC gain → good regulation / zero steady-state error.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ar-AE" sz="6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6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6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6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sz="640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ar-AE" sz="6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6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ar-AE" sz="6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6400" dirty="0"/>
                  <a:t>: </a:t>
                </a:r>
                <a:r>
                  <a:rPr lang="en-US" sz="6400" b="1" dirty="0"/>
                  <a:t>zero</a:t>
                </a:r>
                <a:r>
                  <a:rPr lang="en-US" sz="6400" dirty="0"/>
                  <a:t> → phase boost around crossover.</a:t>
                </a:r>
              </a:p>
              <a:p>
                <a14:m>
                  <m:oMath xmlns:m="http://schemas.openxmlformats.org/officeDocument/2006/math">
                    <m:r>
                      <a:rPr lang="en-US" sz="6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640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ar-AE" sz="6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6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6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6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sz="640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ar-AE" sz="6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6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ar-AE" sz="6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ar-AE" sz="6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6400" dirty="0"/>
                  <a:t>: </a:t>
                </a:r>
                <a:r>
                  <a:rPr lang="en-US" sz="6400" b="1" dirty="0"/>
                  <a:t>pole</a:t>
                </a:r>
                <a:r>
                  <a:rPr lang="en-US" sz="6400" dirty="0"/>
                  <a:t> → roll-off at high frequency (noise attenuation).</a:t>
                </a:r>
              </a:p>
              <a:p>
                <a:pPr marL="0" indent="0">
                  <a:buNone/>
                </a:pPr>
                <a:r>
                  <a:rPr lang="en-US" sz="7200" dirty="0"/>
                  <a:t>In the paper they calculate analytically the  poles and zeros for the compensation network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6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6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6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ar-AE" sz="6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6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6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64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ar-AE" sz="6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6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sz="6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ar-AE" sz="640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8000" dirty="0"/>
                  <a:t> ,</a:t>
                </a:r>
                <a:r>
                  <a:rPr lang="ar-AE" sz="8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sz="8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8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8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80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8000"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ar-AE" sz="8000" i="1"/>
                          <m:t> </m:t>
                        </m:r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sz="8000" i="1"/>
                          <m:t> </m:t>
                        </m:r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sz="8000" i="1"/>
                          <m:t> </m:t>
                        </m:r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sz="8000" i="1"/>
                          <m:t> </m:t>
                        </m:r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sz="8000" i="1"/>
                          <m:t> </m:t>
                        </m:r>
                        <m:d>
                          <m:d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8000">
                                <a:latin typeface="Cambria Math" panose="02040503050406030204" pitchFamily="18" charset="0"/>
                              </a:rPr>
                              <m:t>32</m:t>
                            </m:r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lang="ar-AE" sz="8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8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ar-AE" sz="8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𝐿𝑅</m:t>
                        </m:r>
                      </m:den>
                    </m:f>
                    <m:r>
                      <a:rPr lang="en-US" sz="8000" b="0" i="1" smtClean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ar-AE" sz="8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sz="8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8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8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8000" i="1"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ar-AE" sz="8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8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8000" dirty="0"/>
                  <a:t>  </a:t>
                </a:r>
                <a:r>
                  <a:rPr lang="ar-AE" sz="8000" dirty="0"/>
                  <a:t> </a:t>
                </a:r>
              </a:p>
              <a:p>
                <a:pPr marL="0" indent="0">
                  <a:buNone/>
                </a:pPr>
                <a:endParaRPr lang="ar-AE" sz="8000" dirty="0"/>
              </a:p>
              <a:p>
                <a:pPr marL="0" indent="0">
                  <a:buNone/>
                </a:pPr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453B8-3225-5FD0-3426-FC36FF648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2925"/>
                <a:ext cx="10515600" cy="4351338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343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5C7D-CEE5-1E88-E44D-FAD88F97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Digital Compensator transfer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2C7BB-6B1C-A07C-3F30-BD8D62034F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Digital  voltage outer loop Transfer function from ADC </a:t>
                </a:r>
                <a:r>
                  <a:rPr lang="en-US" dirty="0">
                    <a:sym typeface="Wingdings" panose="05000000000000000000" pitchFamily="2" charset="2"/>
                  </a:rPr>
                  <a:t> PID  Sigma/Delta  DAC 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𝐻𝑑𝑖𝑔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𝐻𝑎𝑑𝑐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𝐻𝑝𝑖𝑑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𝐻𝑑𝑎𝑐</m:t>
                    </m:r>
                  </m:oMath>
                </a14:m>
                <a:r>
                  <a:rPr lang="en-US" dirty="0"/>
                  <a:t>*</a:t>
                </a:r>
                <a:r>
                  <a:rPr lang="en-US" dirty="0" err="1"/>
                  <a:t>Hdelay</a:t>
                </a:r>
                <a:r>
                  <a:rPr lang="en-US" dirty="0"/>
                  <a:t>*</a:t>
                </a:r>
                <a:r>
                  <a:rPr lang="en-US" dirty="0" err="1"/>
                  <a:t>Hblanck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𝐻𝑝𝑖𝑑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2C7BB-6B1C-A07C-3F30-BD8D62034F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75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7D2287-03D1-217F-6CBF-18AA3137D6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Calculated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𝐺𝑣𝑐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7D2287-03D1-217F-6CBF-18AA3137D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FBB281-D7E9-4F68-9E05-FAED0E5AC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2703" y="1825625"/>
            <a:ext cx="92465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9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26FD78A-F4F0-A1D9-58A3-57BA73706F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MATLAB Plots – Calculated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26FD78A-F4F0-A1D9-58A3-57BA73706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25684C-6A6E-81DA-A1F8-AA4AF35DD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1087" y="1825625"/>
            <a:ext cx="92098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74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7F17E0-03B3-DC94-ADC9-F33FA591C10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MATLAB Plots – Calculated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𝑑𝑖𝑔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7F17E0-03B3-DC94-ADC9-F33FA591C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61296A-E550-E9F1-CC8A-373C0DF81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48791" y="1825625"/>
            <a:ext cx="92944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39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59-3A48-6D8B-7747-202B3311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FB loop transfer function T(s)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96646D-8E68-7284-6939-5754FF750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648" y="1825625"/>
            <a:ext cx="92767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0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92B5-E965-C5FE-BC35-42D778B5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FB loop transfer function </a:t>
            </a:r>
            <a:r>
              <a:rPr lang="en-US" dirty="0" err="1"/>
              <a:t>Tdig</a:t>
            </a:r>
            <a:r>
              <a:rPr lang="en-US" dirty="0"/>
              <a:t>(s)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AB9392-C29D-432C-976C-59F747046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955" y="1825625"/>
            <a:ext cx="95080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96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D3B6-25EB-EFF0-0E70-F2414815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Closed loop step response comparison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0ABFAE-B6F6-237E-770E-281C3103B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510" y="1825625"/>
            <a:ext cx="96369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5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2BF33-9A2C-053D-E133-7649DB684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AMS TB Required changes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95E74D-3FAD-FDC7-1221-3C8960D50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41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8D78-774F-832F-8CD7-AC5537E7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the K1 and K2 Bits PID settings – MSB </a:t>
            </a:r>
            <a:r>
              <a:rPr lang="en-US" dirty="0" err="1"/>
              <a:t>precalmb</a:t>
            </a:r>
            <a:r>
              <a:rPr lang="en-US" dirty="0"/>
              <a:t> [31:8]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DE4245-4708-6995-DE75-2AF87EABC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7790" y="1825625"/>
            <a:ext cx="10196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4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10083</TotalTime>
  <Words>628</Words>
  <Application>Microsoft Office PowerPoint</Application>
  <PresentationFormat>Widescreen</PresentationFormat>
  <Paragraphs>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 Theme</vt:lpstr>
      <vt:lpstr>NG PMIC FB loop MATLAB Modeling</vt:lpstr>
      <vt:lpstr>Introduction </vt:lpstr>
      <vt:lpstr>Next Gen DCDC High Level Architectural Diagram​</vt:lpstr>
      <vt:lpstr>Small Signal Model </vt:lpstr>
      <vt:lpstr>First Model – Derived From </vt:lpstr>
      <vt:lpstr>DC Gain H_dc</vt:lpstr>
      <vt:lpstr>Power stage small signal model F_p (s)</vt:lpstr>
      <vt:lpstr>High-frequency factor F_h (s)</vt:lpstr>
      <vt:lpstr>Compensator transfer function H_c (s)</vt:lpstr>
      <vt:lpstr>Digital Compensator transfer function </vt:lpstr>
      <vt:lpstr>Calculated Gvc(s)</vt:lpstr>
      <vt:lpstr>MATLAB Plots – Calculated Hc(s)</vt:lpstr>
      <vt:lpstr>MATLAB Plots – Calculated Hdig(s)</vt:lpstr>
      <vt:lpstr>Theoretical FB loop transfer function T(s)</vt:lpstr>
      <vt:lpstr>FB loop transfer function Tdig(s) </vt:lpstr>
      <vt:lpstr>Closed loop step response comparison </vt:lpstr>
      <vt:lpstr>AMS TB Required changes </vt:lpstr>
      <vt:lpstr>Updated the K1 and K2 Bits PID settings – MSB precalmb [31:8]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Alwilly, Yazan</dc:creator>
  <cp:lastModifiedBy>Alwilly, Yazan</cp:lastModifiedBy>
  <cp:revision>29</cp:revision>
  <dcterms:created xsi:type="dcterms:W3CDTF">2026-02-17T16:50:21Z</dcterms:created>
  <dcterms:modified xsi:type="dcterms:W3CDTF">2026-03-08T08:07:17Z</dcterms:modified>
</cp:coreProperties>
</file>